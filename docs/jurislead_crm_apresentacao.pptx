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Este projeto foi desenvolvido na disciplina de Desenvolvimento Web com foco em resolver um problema real de escritórios de advocacia: perda de leads por falta de organização e resposta rápida.
O JurisLead CRM centraliza captação, atendimento e acompanhamento em uma única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No cenário tradicional, o escritório recebe contatos por vários canais e não consegue padronizar o atendimento.
Isso causa atrasos, retrabalho e queda de conversão.
Nosso projeto nasce para organizar esse funil desde a captação até o acompanhamento do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O foco é aumentar eficiência operacional e melhorar conversão.
Em vez de ferramentas isoladas, o JurisLead CRM propõe uma plataforma única para o escritório acompanhar toda a jornada do lead até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A proposta de valor é simples: transformar atendimento reativo em um fluxo organizado e previsível.
Isso impacta diretamente a produtividade da equipe e a percepção de qualidade pelo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O sistema já possui base funcional de CRM jurídico, com foco em operações de atendimento e organização.
As integrações com WhatsApp estão desacopladas em serviços, prontas para uso com provedores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A escolha por monólito MVC foi intencional para manter simplicidade de implantação e evolução incremental.
O Flask organiza bem as rotas, o SQLAlchemy abstrai a persistência e o Jinja2 permite páginas server-side rápidas para este contexto acadêmico e de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A stack foi escolhida para equilibrar produtividade, baixo custo de setup e clareza arquitetural.
Em ambiente local, o SQLite acelera o desenvolvimento. Para testes, usamos ferramentas que cobrem regras de negócio e integrações mockadas.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A estrutura está organizada por responsabilidade.
Em 'app' ficam as regras e camadas principais; em 'services', as integrações externas; em 'tests', a validação automatizada; e em 'docs', toda a documentação técnica e de API para facilitar manutenção e evolução.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Este fluxo representa a jornada principal do negócio dentro do sistema.
A ideia é reduzir a perda de contexto entre as etapas e manter um histórico rastreável para a tomada de decisão comercial e operacional.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Para rodar localmente, criamos o ambiente virtual, instalamos as dependências e executamos a aplicação Flask.
O banco SQLite é criado automaticamente e o sistema sobe na porta 5000.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Na demonstração web, mostramos a jornada inicial de uso do sistema: entrada pela landing, autenticação, criação de lead e consulta das informações registradas.
Isso já evidencia a proposta de centralização do atendimento.
[Transição] Agora que vimos o contexto e a arquitetura, vou mostrar o JurisLead CRM em execução para validar o fluxo principal da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Além da interface web, o sistema também expõe endpoints para integração.
Na demo de API, mostramos a criação de lead, consulta, processo e movimentação, finalizando com uma leitura consolidada do processo e seu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As integrações externas foram encapsuladas em serviços para facilitar a troca de provedor e os testes.
O projeto também possui agendamento de tarefas, o que abre caminho para lembretes automáticos e rotinas operacionais recorrentes.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[FABIOLA]
A estratégia de qualidade combina testes de regras de negócio e cenários de integração com mocks.
Isso garante previsibilidade sem depender de serviços externos durante a validação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[ANDRÉ]
Como MVP acadêmico, o projeto já demonstra valor funcional real.
O próximo ciclo foca produção: reforço de segurança, observabilidade, governança de dados e expansão das análises de métricas para apoiar a gestão do escritório.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[ANDRÉ e FABIOLA]
O JurisLead CRM mostra como uma arquitetura web enxuta, bem documentada e orientada ao problema do domínio pode gerar valor prático para escritórios de advocacia.
Obrigado pela atenção. Ficamos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1371600"/>
            <a:ext cx="3200400" cy="32004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-91440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13232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DISCIPLINA  ·  DESENVOLVIMENTO WEB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JurisLead CRM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F46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Plataforma web para captação, triagem 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F46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gestão de atendimento jurídico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91440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35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Pós-graduação Lato Sensu em Desenvolvimento de Sistemas Computacionais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273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IFTO / UAB — Campus Araguatins  ·  Disciplina de Desenvolvimento Web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9867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André Barcelos Chagas      ·      Fabíola Gomes da Rocha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69480" y="3611880"/>
            <a:ext cx="1325880" cy="13258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4005072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 problema do mercado jurídico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Atendimento reativo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816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F46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 desorganizado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3310128"/>
            <a:ext cx="502920" cy="228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447288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escritório recebe contatos por vários canais e não consegue padronizar o atendimento — gerando atrasos, retrabalho e queda de conversão.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54880" y="1673352"/>
            <a:ext cx="502920" cy="50292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773936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63677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no primeiro contato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40680" y="19659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lead espera resposta e procura outro escritório.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560320"/>
            <a:ext cx="3931920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2770632"/>
            <a:ext cx="502920" cy="50292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871216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27340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oportunidades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40680" y="30632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acompanhamento, contatos quentes esfriam e se perdem.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657600"/>
            <a:ext cx="3931920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4880" y="3867912"/>
            <a:ext cx="502920" cy="50292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96849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383133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descentralizados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4068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casos e histórico espalhados em ferramentas isoladas.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OBJETIVO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 do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288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" y="272491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Reduzir a perda de oportunidades comerciais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49808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eficiência operacional e melhor taxa de conversão de leads em clientes.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3484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34840" y="1865376"/>
            <a:ext cx="42519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526280" y="1956816"/>
            <a:ext cx="310896" cy="31089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029968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6048" y="186537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leads com landing page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434840" y="2432304"/>
            <a:ext cx="42519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4"/>
          <p:cNvSpPr/>
          <p:nvPr/>
        </p:nvSpPr>
        <p:spPr>
          <a:xfrm>
            <a:off x="4526280" y="2523744"/>
            <a:ext cx="310896" cy="31089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5968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56048" y="243230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triagem inicial com IA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434840" y="2999232"/>
            <a:ext cx="42519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7"/>
          <p:cNvSpPr/>
          <p:nvPr/>
        </p:nvSpPr>
        <p:spPr>
          <a:xfrm>
            <a:off x="4526280" y="3090672"/>
            <a:ext cx="310896" cy="31089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163824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56048" y="29992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consultas e processos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434840" y="3566160"/>
            <a:ext cx="42519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26280" y="3657600"/>
            <a:ext cx="310896" cy="31089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730752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56048" y="356616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Apoiar follow-up por WhatsApp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4434840" y="4133088"/>
            <a:ext cx="425196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3"/>
          <p:cNvSpPr/>
          <p:nvPr/>
        </p:nvSpPr>
        <p:spPr>
          <a:xfrm>
            <a:off x="4526280" y="4224528"/>
            <a:ext cx="310896" cy="31089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297680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56048" y="413308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 visão gerencial por métricas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PÚBLICO &amp; VALOR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Público-alvo e proposta de valor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69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4069080" cy="54864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7830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Público-alvo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13232" y="2423160"/>
            <a:ext cx="36576" cy="8686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4597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autônomos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96112" y="28437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gerenciam sozinhos toda a captação.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3232" y="3429000"/>
            <a:ext cx="36576" cy="8686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346557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 de pequeno e médio porte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6112" y="384962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que precisam padronizar o atendimento sem ferramentas caras.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17720" y="1508760"/>
            <a:ext cx="4069080" cy="310896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783080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17830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Proposta de valor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73752" y="23957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248716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4068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mais rápida ao lead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873752" y="305409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145536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068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padronizado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873752" y="37124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803904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3675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centralizada de leads, consultas e processos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873752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reativo  →  fluxo organizado e previsível.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FUNCIONALIDADES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Visão funcional do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funcional de CRM jurídico, com foco em operações de atendimento e organização.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929384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29968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59352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" y="178308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e captação de leads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551176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2697480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98064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2642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5568" y="255117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gestão de leads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7200" y="3319272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3504" y="3465576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56616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59352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5568" y="33192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gestão de usuários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57200" y="408736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3504" y="4233672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33425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959352" y="4178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5568" y="4087368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consultas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617720" y="1783080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64024" y="1929384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029968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19872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276088" y="1783080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processos e movimentações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4617720" y="2551176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764024" y="2697480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798064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119872" y="2642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276088" y="2551176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métricas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4617720" y="3319272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764024" y="3465576"/>
            <a:ext cx="384048" cy="384048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566160"/>
            <a:ext cx="182880" cy="1828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119872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5276088" y="33192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WhatsApp via serviços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ARQUITETURA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Arquitetura da aplicação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Monólito em MVC — simplicidade de implantação e evolução incremental.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79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901952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0824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920240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25880" y="21214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" y="2542032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 domínio e persistência de dados.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32404" y="1691640"/>
            <a:ext cx="2679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32404" y="169164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4"/>
          <p:cNvSpPr/>
          <p:nvPr/>
        </p:nvSpPr>
        <p:spPr>
          <a:xfrm>
            <a:off x="3433572" y="1901952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444" y="202082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01084" y="1920240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101084" y="21214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Bootstrap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33572" y="2542032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server-side e interface responsiva.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07608" y="1691640"/>
            <a:ext cx="2679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07608" y="169164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0"/>
          <p:cNvSpPr/>
          <p:nvPr/>
        </p:nvSpPr>
        <p:spPr>
          <a:xfrm>
            <a:off x="6208776" y="1901952"/>
            <a:ext cx="502920" cy="5029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2082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76288" y="1920240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76288" y="2121408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Flask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208776" y="2542032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requisições e orquestra a aplicação.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3657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REQUISIÇÃO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57200" y="3931920"/>
            <a:ext cx="18745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6"/>
          <p:cNvSpPr/>
          <p:nvPr/>
        </p:nvSpPr>
        <p:spPr>
          <a:xfrm>
            <a:off x="45720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1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6584" y="4123944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2606040" y="3931920"/>
            <a:ext cx="18745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28"/>
          <p:cNvSpPr/>
          <p:nvPr/>
        </p:nvSpPr>
        <p:spPr>
          <a:xfrm>
            <a:off x="260604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Flask</a:t>
            </a:r>
            <a:endParaRPr lang="en-US" sz="115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123944"/>
            <a:ext cx="164592" cy="16459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4754880" y="3931920"/>
            <a:ext cx="18745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0"/>
          <p:cNvSpPr/>
          <p:nvPr/>
        </p:nvSpPr>
        <p:spPr>
          <a:xfrm>
            <a:off x="475488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/ Modelos</a:t>
            </a:r>
            <a:endParaRPr lang="en-US" sz="11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123944"/>
            <a:ext cx="164592" cy="164592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6903720" y="3931920"/>
            <a:ext cx="1874520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0" name="Text 32"/>
          <p:cNvSpPr/>
          <p:nvPr/>
        </p:nvSpPr>
        <p:spPr>
          <a:xfrm>
            <a:off x="6903720" y="39319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SQLite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TECNOLOGIAS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Stack e ferramentas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escolhida para equilibrar produtividade, baixo custo de setup e clareza arquitetural.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89738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9796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15568" y="2093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Flask · Flask-SQLAlchemy · Flask-Login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51002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265176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52344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26014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15568" y="28483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(ambiente local de desenvolvimento)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26440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3504" y="340614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506724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355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15568" y="3602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Bootstrap · JavaScript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401878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03504" y="416052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26110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15568" y="41102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15568" y="43571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(tarefas agendadas)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17720" y="175564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64024" y="189738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80" y="1997964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76088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HTTP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276088" y="2093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requests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617720" y="251002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764024" y="265176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2752344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76088" y="26014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276088" y="28483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pytest-cov · responses · freezegun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617720" y="3264408"/>
            <a:ext cx="40690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764024" y="3406140"/>
            <a:ext cx="393192" cy="393192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3506724"/>
            <a:ext cx="192024" cy="19202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276088" y="3355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de API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5276088" y="3602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Markdown · coleção Postman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ESTRUTURA DO PROJETO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Estrutura do projeto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por responsabilidade — facilita manutenção e evolução.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160520" cy="2907792"/>
          </a:xfrm>
          <a:prstGeom prst="rect">
            <a:avLst>
              <a:gd name="adj" fmla="val 1887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416052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8470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8470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184708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73736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de pastas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176272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jurislead-crm/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400300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624328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services/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integrações externas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848356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templates/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páginas Jinja2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072384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static/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CSS, JS, imagens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3296412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routes.py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520440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models.py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744468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tests/     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validação automatizada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968496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      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documentação técnica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4192524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run.py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4416552"/>
            <a:ext cx="37033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config.py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783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ARQUIVOS-CHAVE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084832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084832"/>
            <a:ext cx="36576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4956048" y="2148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run.py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56048" y="2368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entrada que inicializa a aplicação.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724912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724912"/>
            <a:ext cx="36576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56048" y="3008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e variáveis de ambiente.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364992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3364992"/>
            <a:ext cx="36576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3429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app/routes.py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56048" y="3648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controladores Flask.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4005072"/>
            <a:ext cx="39319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4005072"/>
            <a:ext cx="36576" cy="5669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0" name="Text 38"/>
          <p:cNvSpPr/>
          <p:nvPr/>
        </p:nvSpPr>
        <p:spPr>
          <a:xfrm>
            <a:off x="4956048" y="4069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app/models.py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56048" y="4288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 persistência (SQLAlchemy).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FLUXO DE USO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Fluxo principal de uso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negócio dentro do sistema — com histórico rastreável em cada etapa.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5910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2359152"/>
            <a:ext cx="585216" cy="58521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8716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2064" y="30358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2064" y="36576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via landing page.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8" y="2926080"/>
            <a:ext cx="146304" cy="1463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25980" y="1874520"/>
            <a:ext cx="15910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25980" y="2029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628900" y="2359152"/>
            <a:ext cx="585216" cy="58521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16" y="24871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80844" y="30358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2180844" y="36576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e dados do lead.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926080"/>
            <a:ext cx="146304" cy="14630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794760" y="1874520"/>
            <a:ext cx="15910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794760" y="2029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2359152"/>
            <a:ext cx="585216" cy="58521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48716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849624" y="30358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consulta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849624" y="36576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 na agenda.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388" y="2926080"/>
            <a:ext cx="146304" cy="14630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463540" y="1874520"/>
            <a:ext cx="159105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5463540" y="2029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966460" y="2359152"/>
            <a:ext cx="585216" cy="585216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476" y="2487168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518404" y="30358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processo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518404" y="36576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jurídico estruturado.</a:t>
            </a:r>
            <a:endParaRPr lang="en-US" sz="9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2926080"/>
            <a:ext cx="146304" cy="14630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132320" y="1874520"/>
            <a:ext cx="1591056" cy="2331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7132320" y="2029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7635240" y="2359152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3256" y="2487168"/>
            <a:ext cx="329184" cy="32918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87184" y="3035808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métricas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7187184" y="36576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gerencial.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EXECUÇÃO LOCAL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Como rodar localmente (Windows)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virtual, dependências e a aplicação Flask em poucos comandos.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074920" cy="2606040"/>
          </a:xfrm>
          <a:prstGeom prst="rect">
            <a:avLst>
              <a:gd name="adj" fmla="val 2105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507492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89280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892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7830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22199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venv .venv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53288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.\.venv\Scripts\Activate.ps1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2843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-r requirements.txt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1546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FLASK_APP="run.py"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34655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FLASK_ENV="development"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377647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15000" y="1783080"/>
            <a:ext cx="2971800" cy="260604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01168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0" y="2487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Pronto para acessar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943600" y="2834640"/>
            <a:ext cx="2514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2834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0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SQLite é criado automaticamente e o sistema sobe na porta 5000.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DEMONSTRAÇÃO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Demonstração 1 — fluxo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inicial de uso do sistema, da landing page à consulta de leads.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2697480" cy="2852928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2996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Checklist</a:t>
            </a:r>
            <a:endParaRPr lang="en-US" sz="19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 demo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13232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Mostra, na prática, a proposta de centralização do atendimento.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53035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493008" y="188366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1"/>
          <p:cNvSpPr/>
          <p:nvPr/>
        </p:nvSpPr>
        <p:spPr>
          <a:xfrm>
            <a:off x="3493008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50208" y="17830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landing page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83280" y="2354580"/>
            <a:ext cx="53035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3493008" y="245516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5"/>
          <p:cNvSpPr/>
          <p:nvPr/>
        </p:nvSpPr>
        <p:spPr>
          <a:xfrm>
            <a:off x="3493008" y="24551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50208" y="23545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usuário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383280" y="2926080"/>
            <a:ext cx="53035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3493008" y="302666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19"/>
          <p:cNvSpPr/>
          <p:nvPr/>
        </p:nvSpPr>
        <p:spPr>
          <a:xfrm>
            <a:off x="3493008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50208" y="29260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login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383280" y="3497580"/>
            <a:ext cx="53035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3493008" y="359816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3"/>
          <p:cNvSpPr/>
          <p:nvPr/>
        </p:nvSpPr>
        <p:spPr>
          <a:xfrm>
            <a:off x="3493008" y="35981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950208" y="34975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tela de novo lead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383280" y="4069080"/>
            <a:ext cx="5303520" cy="4937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3493008" y="4169664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Text 27"/>
          <p:cNvSpPr/>
          <p:nvPr/>
        </p:nvSpPr>
        <p:spPr>
          <a:xfrm>
            <a:off x="3493008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950208" y="4069080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leads e visualizar detalhes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DEMONSTRAÇÃO · API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Demonstração 2 — integração via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interface web, o sistema expõe endpoints para integração externa.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074920" cy="2331720"/>
          </a:xfrm>
          <a:prstGeom prst="rect">
            <a:avLst>
              <a:gd name="adj" fmla="val 2353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507492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89280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892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18928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7830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sequência de chamadas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222199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/captacao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53288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/consultas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284378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/processos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15468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/processos/{id}/movimentacoes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34655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/processos/{id}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15000" y="1783080"/>
            <a:ext cx="2971800" cy="233172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99339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943600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Leitura consolidada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943600" y="27249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lead, consulta, processo e movimentação — e finaliza lendo o processo com seu histórico completo.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352544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96112" y="42793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Referência:  docs/api-endpoints.md   ·   docs/api-curl-examples.md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INTEGRAÇÕES &amp; AUTOMAÇÃO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Demonstração 3 — integrações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encapsuladas em serviços — fáceis de testar e de trocar de provedor.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791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Shape 8"/>
          <p:cNvSpPr/>
          <p:nvPr/>
        </p:nvSpPr>
        <p:spPr>
          <a:xfrm>
            <a:off x="1431036" y="205740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22199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2608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40080" y="312724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3511296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e comunicação com os clientes, encapsuladas em um serviço dedicado.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32404" y="1783080"/>
            <a:ext cx="26791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32404" y="178308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205740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221992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15284" y="292608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AGENDADA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415284" y="312724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Job periódico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488436" y="3511296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recorrente via APScheduler — base para lembretes e rotinas automáticas.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07608" y="1783080"/>
            <a:ext cx="26791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07608" y="178308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Shape 20"/>
          <p:cNvSpPr/>
          <p:nvPr/>
        </p:nvSpPr>
        <p:spPr>
          <a:xfrm>
            <a:off x="6981444" y="2057400"/>
            <a:ext cx="731520" cy="73152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036" y="2221992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90488" y="2926080"/>
            <a:ext cx="2313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190488" y="312724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Mocks nos testes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263640" y="3511296"/>
            <a:ext cx="216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testes, as integrações externas são simuladas — sem depender de serviços reais.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QUALIDADE &amp; TESTES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Qualidade e testes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regras de negócio e cenários de integração com mocks — previsibilidade local.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COM TESTES AUTOMATIZADOS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1028700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17627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048256"/>
            <a:ext cx="6172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613916" y="2048256"/>
            <a:ext cx="1133856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32" y="217627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79676" y="2048256"/>
            <a:ext cx="722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875788" y="2048256"/>
            <a:ext cx="1449324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04" y="217627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1548" y="2048256"/>
            <a:ext cx="10378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453128" y="2048256"/>
            <a:ext cx="1344168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17627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18888" y="2048256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925312" y="2048256"/>
            <a:ext cx="713232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17627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91072" y="2048256"/>
            <a:ext cx="301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766560" y="2048256"/>
            <a:ext cx="1344168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2176272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32320" y="2048256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57200" y="2615184"/>
            <a:ext cx="1344168" cy="438912"/>
          </a:xfrm>
          <a:prstGeom prst="rect">
            <a:avLst>
              <a:gd name="adj" fmla="val 50000"/>
            </a:avLst>
          </a:prstGeom>
          <a:solidFill>
            <a:srgbClr val="EEF2FF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2743200"/>
            <a:ext cx="182880" cy="1828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22960" y="2615184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57200" y="2926080"/>
            <a:ext cx="5486400" cy="1691640"/>
          </a:xfrm>
          <a:prstGeom prst="rect">
            <a:avLst>
              <a:gd name="adj" fmla="val 3243"/>
            </a:avLst>
          </a:prstGeom>
          <a:solidFill>
            <a:srgbClr val="1E293B"/>
          </a:solidFill>
          <a:ln/>
        </p:spPr>
      </p:sp>
      <p:sp>
        <p:nvSpPr>
          <p:cNvPr id="31" name="Shape 22"/>
          <p:cNvSpPr/>
          <p:nvPr/>
        </p:nvSpPr>
        <p:spPr>
          <a:xfrm>
            <a:off x="457200" y="2926080"/>
            <a:ext cx="548640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Shape 23"/>
          <p:cNvSpPr/>
          <p:nvPr/>
        </p:nvSpPr>
        <p:spPr>
          <a:xfrm>
            <a:off x="621792" y="303580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Shape 24"/>
          <p:cNvSpPr/>
          <p:nvPr/>
        </p:nvSpPr>
        <p:spPr>
          <a:xfrm>
            <a:off x="822960" y="30358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Shape 25"/>
          <p:cNvSpPr/>
          <p:nvPr/>
        </p:nvSpPr>
        <p:spPr>
          <a:xfrm>
            <a:off x="1024128" y="30358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26"/>
          <p:cNvSpPr/>
          <p:nvPr/>
        </p:nvSpPr>
        <p:spPr>
          <a:xfrm>
            <a:off x="1371600" y="29260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713232" y="33649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-q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# execução rápida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713232" y="36758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--cov=app --cov-report=term-missing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713232" y="3986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relatório de cobertura por linha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26480" y="2926080"/>
            <a:ext cx="2560320" cy="16916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127248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327648" y="3547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 dependência externa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6327648" y="396849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garantem que a validação rode de forma estável e repetível.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3840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RESULTADOS &amp; PRÓXIMOS PASSOS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Resultados, limitações e melhorias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JurisLead CRM · IFTO/UAB · Desenvolvimento Web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791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67919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773936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879092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7393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ATUAIS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2395728"/>
            <a:ext cx="2276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76656" y="26060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5054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funcional do CRM jurídico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" y="32644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6382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e de API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" y="392277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82219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testes automatizados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32404" y="1554480"/>
            <a:ext cx="26791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32404" y="1554480"/>
            <a:ext cx="26791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8"/>
          <p:cNvSpPr/>
          <p:nvPr/>
        </p:nvSpPr>
        <p:spPr>
          <a:xfrm>
            <a:off x="3433572" y="1773936"/>
            <a:ext cx="457200" cy="457200"/>
          </a:xfrm>
          <a:prstGeom prst="ellipse">
            <a:avLst/>
          </a:prstGeom>
          <a:solidFill>
            <a:srgbClr val="FFFBEB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879092"/>
            <a:ext cx="246888" cy="2468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009644" y="177393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DE MVP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433572" y="2395728"/>
            <a:ext cx="2276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1"/>
          <p:cNvSpPr/>
          <p:nvPr/>
        </p:nvSpPr>
        <p:spPr>
          <a:xfrm>
            <a:off x="3451860" y="26060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3643884" y="25054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reais dependem de credenciais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451860" y="32644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3643884" y="316382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observabilidade ainda em evolução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451860" y="392277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6"/>
          <p:cNvSpPr/>
          <p:nvPr/>
        </p:nvSpPr>
        <p:spPr>
          <a:xfrm>
            <a:off x="3643884" y="382219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voltado a ambiente local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007608" y="1554480"/>
            <a:ext cx="267919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007608" y="1554480"/>
            <a:ext cx="2679192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29"/>
          <p:cNvSpPr/>
          <p:nvPr/>
        </p:nvSpPr>
        <p:spPr>
          <a:xfrm>
            <a:off x="6208776" y="1773936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879092"/>
            <a:ext cx="246888" cy="24688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84848" y="1773936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208776" y="2395728"/>
            <a:ext cx="2276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2"/>
          <p:cNvSpPr/>
          <p:nvPr/>
        </p:nvSpPr>
        <p:spPr>
          <a:xfrm>
            <a:off x="6227064" y="2606040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8" name="Text 33"/>
          <p:cNvSpPr/>
          <p:nvPr/>
        </p:nvSpPr>
        <p:spPr>
          <a:xfrm>
            <a:off x="6419088" y="2505456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segurança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227064" y="3264408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Text 35"/>
          <p:cNvSpPr/>
          <p:nvPr/>
        </p:nvSpPr>
        <p:spPr>
          <a:xfrm>
            <a:off x="6419088" y="3163824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mais avançados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227064" y="3922776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2" name="Text 37"/>
          <p:cNvSpPr/>
          <p:nvPr/>
        </p:nvSpPr>
        <p:spPr>
          <a:xfrm>
            <a:off x="6419088" y="3822192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monitoramento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657600"/>
            <a:ext cx="2743200" cy="274320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49808"/>
            <a:ext cx="91440" cy="914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6766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Uma arquitetura web enxuta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i="1" dirty="0">
                <a:solidFill>
                  <a:srgbClr val="4F46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 gera valor real ao negócio.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640080" y="2359152"/>
            <a:ext cx="82296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0545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documentada e orientada ao problema do domínio, a plataforma mostra como tecnologia simples pode apoiar a rotina de escritórios de advocacia.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60604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58902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3419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única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417320" y="36941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Captação, atendimento e processos centralizados.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10712" y="3291840"/>
            <a:ext cx="260604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3593592" y="3474720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358902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87952" y="3419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 para evoluir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187952" y="36941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testada e documentada para o próximo ciclo.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81344" y="3291840"/>
            <a:ext cx="2606040" cy="960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7"/>
          <p:cNvSpPr/>
          <p:nvPr/>
        </p:nvSpPr>
        <p:spPr>
          <a:xfrm>
            <a:off x="6364224" y="3474720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35890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58584" y="3419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domínio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958584" y="36941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desenhada para a realidade jurídica.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40080" y="4498848"/>
            <a:ext cx="78638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  ·  Perguntas são bem-vindas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0" y="4562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André B. Chagas  ·  Fabíola Gomes da Rocha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JurisLead CRM — Apresentação do Projeto</dc:title>
  <dc:subject>PptxGenJS Presentation</dc:subject>
  <dc:creator>Antonio André B. Chagas e Fabíola Gomes da Rocha</dc:creator>
  <cp:lastModifiedBy>Antonio André B. Chagas e Fabíola Gomes da Rocha</cp:lastModifiedBy>
  <cp:revision>1</cp:revision>
  <dcterms:created xsi:type="dcterms:W3CDTF">2026-05-24T16:27:35Z</dcterms:created>
  <dcterms:modified xsi:type="dcterms:W3CDTF">2026-05-24T16:27:35Z</dcterms:modified>
</cp:coreProperties>
</file>